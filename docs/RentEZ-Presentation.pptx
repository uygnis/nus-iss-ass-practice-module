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22"/>
    <p:sldId id="268" r:id="rId14"/>
    <p:sldId id="286" r:id="rId37"/>
    <p:sldId id="269" r:id="rId15"/>
    <p:sldId id="270" r:id="rId16"/>
    <p:sldId id="271" r:id="rId17"/>
    <p:sldId id="287" r:id="rId38"/>
    <p:sldId id="272" r:id="rId18"/>
    <p:sldId id="282" r:id="rId28"/>
    <p:sldId id="281" r:id="rId27"/>
    <p:sldId id="288" r:id="rId39"/>
    <p:sldId id="273" r:id="rId19"/>
    <p:sldId id="274" r:id="rId20"/>
    <p:sldId id="275" r:id="rId21"/>
    <p:sldId id="289" r:id="rId40"/>
    <p:sldId id="277" r:id="rId23"/>
    <p:sldId id="278" r:id="rId24"/>
    <p:sldId id="279" r:id="rId25"/>
    <p:sldId id="280" r:id="rId26"/>
    <p:sldId id="290" r:id="rId41"/>
    <p:sldId id="291" r:id="rId42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slide" Target="slides/slide13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22.xml"/><Relationship Id="rId28" Type="http://schemas.openxmlformats.org/officeDocument/2006/relationships/slide" Target="slides/slide21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15.xml"/><Relationship Id="rId38" Type="http://schemas.openxmlformats.org/officeDocument/2006/relationships/slide" Target="slides/slide19.xml"/><Relationship Id="rId39" Type="http://schemas.openxmlformats.org/officeDocument/2006/relationships/slide" Target="slides/slide23.xml"/><Relationship Id="rId40" Type="http://schemas.openxmlformats.org/officeDocument/2006/relationships/slide" Target="slides/slide27.xml"/><Relationship Id="rId41" Type="http://schemas.openxmlformats.org/officeDocument/2006/relationships/slide" Target="slides/slide32.xml"/><Relationship Id="rId42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afternoon. We're presenting RentEZ, a car rental platform built as five independently deployable microservices on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Times in minutes, presentation + Q&amp;A. The demo needs its full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car exists once. Every problem here is easy in one database. Our subject: how do you keep them true when the data is split across five services that cannot see each other's tables? That question drives every decision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didn't build one app; we built reusable capabilities that producers and consumers meet through one API edge. Infrastructure is self-service too: one command brings up an environment, and CI runs the same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cut breadth so we could go deep on correctness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five services and the frontend are deployed on AWS in separate dev and prod environments. 71 backend tests on real PostgreSQL plus a 33-step smoke test. Outstanding issues stated up front; each has a known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member states their area and rough effort. Load testing in the last week of September was the most valuable work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decisions. For each: what, and why. Database per service; no cross-service joins; saga instead of 2PC; no cycles; stateless identity; degrade don't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it outside in. Staff produce the fleet; customers book and pay; payments confirms back into booking; both publish domain events to notification. Fleet and Notification call nothing. Nothing calls Identity at runtime, which is why it can safely host the admin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Identity publishes a language: JWT claims. Fleet is an open host service. Booking snapshots car data as its anti-corruption layer. Payments and Booking are customer/supplier through idempotent confirm and cancel. Notification is a conformist consumer that de-duplicates by event_id. Domain events go through a transactional outbox: the business change and the event commit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physical decisions, each with its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request enters CloudFront, which serves the SPA from S3 and forwards /api/* to one ALB, which routes by path to five services on EKS. RDS PostgreSQL 17 in private subnets. The lease Lambda deletes the ephemeral layer when its deadline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Correctness lives in the database. A primary key has no window; check-then-insert does. Our test races eight threads for one car and exactly one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Holding a DB connection across the catalog call is the exact bug that capped us under 50 actions/s. Payment is written INITIATED before charging so money never moves unrecorded. If confirm times out, the reconciliation sweeper retries; confirm is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branch is the environment selector: dev deploys to dev, main to prod. No shared library: each image builds alone, and releases stay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 runs the same make aws-deploy a developer runs: one script, two callers. aws-up provisions in about 20 minutes; aws-deploy ships code in about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71 tests were green. Then we load-tested and collapsed at 50 actions per second with CPU under 1%. Blocked services don't use CPU, so the CPU autoscaler could never have helped until these were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Environment up 30 minutes before. Backup recording ready. Close on known limits: CPU is the wrong scaling signal for connection exhaustion (KEDA next), db.t4g.micro is the ceiling, HPA maximums cap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Correctness enforced by the database, no dependency cycles, and scalability proven with evidence.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library. Hide or delete these slides before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five services with their HPA ranges and the calls between them; one schema each in one RDS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two diagrams side by side, for before/after or two views of the same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diagram only, largest area. Use for detailed deployment or architecture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one big number. Use units in the number, e.g. 1,200 rps or 99.9%.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three key numbers. Put the most important one in the dark green 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k6 load test on AWS at 100 actions per second, and the stress test scaling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strongest result: from failing at 50 to passing at 400 actions per second, with p95 18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 library: all 30 icons in the brand green. Copy an icon and paste it into any slide. Change its colour to #F5F3EF on dark green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 modules: five badge styles on top, and an icon list below. Copy a badge, then change the icon name. Use one badge style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four icon cards and an icon callout band. Delete a card for a three-card layout; the others stretch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schemas, five roles, no grants across. Plain ids across schemas, foreign keys within. Outbox tables relay to notification, which de-duplicates on event_id.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Postgres in tests, not H2: H2 differs on reserved words and JSON, and tests are the only place migrations and entity mappings are validated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CPU crosses 60% at minute 3; reservation scales 2 to 10 pods; pods go Pending; the Cluster Autoscaler adds a third node; per-pod CPU falls from 200% to 60% while load is still at peak. Replicas hold 5 minutes after load stops,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016000" y="1051520"/>
            <a:ext cx="103632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016000" y="1859161"/>
            <a:ext cx="10363200" cy="418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016000" y="1051520"/>
            <a:ext cx="103632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016000" y="1859161"/>
            <a:ext cx="10363200" cy="418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png"/><Relationship Id="rId19" Type="http://schemas.openxmlformats.org/officeDocument/2006/relationships/image" Target="../media/image-28-19.png"/><Relationship Id="rId20" Type="http://schemas.openxmlformats.org/officeDocument/2006/relationships/image" Target="../media/image-28-20.png"/><Relationship Id="rId21" Type="http://schemas.openxmlformats.org/officeDocument/2006/relationships/image" Target="../media/image-28-21.png"/><Relationship Id="rId22" Type="http://schemas.openxmlformats.org/officeDocument/2006/relationships/image" Target="../media/image-28-22.png"/><Relationship Id="rId23" Type="http://schemas.openxmlformats.org/officeDocument/2006/relationships/image" Target="../media/image-28-23.png"/><Relationship Id="rId24" Type="http://schemas.openxmlformats.org/officeDocument/2006/relationships/image" Target="../media/image-28-24.png"/><Relationship Id="rId25" Type="http://schemas.openxmlformats.org/officeDocument/2006/relationships/image" Target="../media/image-28-25.png"/><Relationship Id="rId26" Type="http://schemas.openxmlformats.org/officeDocument/2006/relationships/image" Target="../media/image-28-26.png"/><Relationship Id="rId27" Type="http://schemas.openxmlformats.org/officeDocument/2006/relationships/image" Target="../media/image-28-27.png"/><Relationship Id="rId28" Type="http://schemas.openxmlformats.org/officeDocument/2006/relationships/image" Target="../media/image-28-28.png"/><Relationship Id="rId29" Type="http://schemas.openxmlformats.org/officeDocument/2006/relationships/image" Target="../media/image-28-29.png"/><Relationship Id="rId30" Type="http://schemas.openxmlformats.org/officeDocument/2006/relationships/image" Target="../media/image-28-30.png"/><Relationship Id="rId31" Type="http://schemas.openxmlformats.org/officeDocument/2006/relationships/image" Target="../media/image-28-31.png"/><Relationship Id="rId32" Type="http://schemas.openxmlformats.org/officeDocument/2006/relationships/slideLayout" Target="../slideLayouts/slideLayout2.xml"/><Relationship Id="rId33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2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17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568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94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19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45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70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696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21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347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172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998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823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52700" y="1612999"/>
            <a:ext cx="7086600" cy="3632002"/>
          </a:xfrm>
          <a:prstGeom prst="roundRect">
            <a:avLst>
              <a:gd name="adj" fmla="val 1748"/>
            </a:avLst>
          </a:prstGeom>
          <a:solidFill>
            <a:srgbClr val="F5F3EF"/>
          </a:solidFill>
          <a:ln w="254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107763" dir="2700000">
              <a:srgbClr val="10291F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73400" y="2082899"/>
            <a:ext cx="62265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PRESENTATION · GROUP 2</a:t>
            </a:r>
            <a:endParaRPr lang="en-US" sz="1200" dirty="0"/>
          </a:p>
        </p:txBody>
      </p:sp>
      <p:sp>
        <p:nvSpPr>
          <p:cNvPr id="19" name="Text 17"/>
          <p:cNvSpPr/>
          <p:nvPr>
            <p:ph type="title"/>
          </p:nvPr>
        </p:nvSpPr>
        <p:spPr>
          <a:xfrm>
            <a:off x="3073400" y="2423220"/>
            <a:ext cx="622655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RentEZ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3073400" y="3350320"/>
            <a:ext cx="622655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rental on five independently deployable microservices</a:t>
            </a:r>
            <a:endParaRPr lang="en-US" sz="1600" dirty="0"/>
          </a:p>
        </p:txBody>
      </p:sp>
      <p:pic>
        <p:nvPicPr>
          <p:cNvPr id="21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3400" y="4046240"/>
            <a:ext cx="6096000" cy="12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073400" y="4185940"/>
            <a:ext cx="62265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John Ling · Sachin Agrawal · Quek Shen An · Muhammad Nur Hakim Bin Azman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073400" y="4561780"/>
            <a:ext cx="62265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Graduate Certificate in Architecting Scalable Systems · 16 Oct 2026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550400" y="5842000"/>
            <a:ext cx="1828800" cy="609600"/>
          </a:xfrm>
          <a:prstGeom prst="roundRect">
            <a:avLst>
              <a:gd name="adj" fmla="val 8333"/>
            </a:avLst>
          </a:prstGeom>
          <a:solidFill>
            <a:srgbClr val="F5F3EF"/>
          </a:solidFill>
          <a:ln/>
        </p:spPr>
        <p:txBody>
          <a:bodyPr/>
          <a:p/>
        </p:txBody>
      </p:sp>
      <p:pic>
        <p:nvPicPr>
          <p:cNvPr id="25" name="Image 1" descr="NUS ISS logo">    </p:cNvPr>
          <p:cNvPicPr>
            <a:picLocks noChangeAspect="1"/>
          </p:cNvPicPr>
          <p:nvPr/>
        </p:nvPicPr>
        <p:blipFill>
          <a:blip r:embed="rId2"/>
          <a:srcRect l="0" r="0" t="-1078" b="-1078"/>
          <a:stretch/>
        </p:blipFill>
        <p:spPr>
          <a:xfrm>
            <a:off x="9652000" y="5924550"/>
            <a:ext cx="1625600" cy="4445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2800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github.com/Uygnis/NUS-ISS-ASS-Practice-Module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372850" y="1859161"/>
            <a:ext cx="0" cy="3113088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6000" y="4965898"/>
            <a:ext cx="1036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1871861"/>
          <a:ext cx="10337800" cy="3087688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6501384"/>
              </a:tblGrid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we cover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Overview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problem, platform thinking, scope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Project Conduct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Status, outstanding issues, milestones, team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Logical Architecture &amp; Design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decisions, bounded contexts, DDD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Architecture &amp; Design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AWS deployment, persistence, book-and-pay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DevOps &amp; Development Lifecycle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control, pipeline, findings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Demo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cases, performance, autoscaling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Q&amp;A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Questions and answers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D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02</a:t>
            </a:r>
            <a:endParaRPr lang="en-US" sz="1200" dirty="0"/>
          </a:p>
        </p:txBody>
      </p:sp>
      <p:pic>
        <p:nvPicPr>
          <p:cNvPr id="9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OVERVIEW · 2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Context and Business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5041900" cy="1622822"/>
          </a:xfrm>
          <a:prstGeom prst="roundRect">
            <a:avLst>
              <a:gd name="adj" fmla="val 2739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2100461"/>
            <a:ext cx="4709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41882" y="2506861"/>
            <a:ext cx="461695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browse, book, pay, get notified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run the fleet; admins run users and refunds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services that cannot read each other's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30950" y="1865511"/>
            <a:ext cx="5041900" cy="1622822"/>
          </a:xfrm>
          <a:prstGeom prst="roundRect">
            <a:avLst>
              <a:gd name="adj" fmla="val 2739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65900" y="2100461"/>
            <a:ext cx="4709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Business problem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50482" y="2506861"/>
            <a:ext cx="461695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 exists once: no double-booking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and bookings must always agree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notification outage must not fail a booking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3799483"/>
            <a:ext cx="10363200" cy="690860"/>
          </a:xfrm>
          <a:prstGeom prst="roundRect">
            <a:avLst>
              <a:gd name="adj" fmla="val 7353"/>
            </a:avLst>
          </a:prstGeom>
          <a:solidFill>
            <a:srgbClr val="1A4233"/>
          </a:solidFill>
          <a:ln/>
        </p:spPr>
        <p:txBody>
          <a:bodyPr wrap="square" lIns="239121" tIns="188321" rIns="0" bIns="16292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solution:</a:t>
            </a:r>
            <a:r>
              <a:rPr lang="en-US" sz="16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booking is guaranteed, every payment matches it, and capacity grows with demand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03</a:t>
            </a:r>
            <a:endParaRPr lang="en-US" sz="1200" dirty="0"/>
          </a:p>
        </p:txBody>
      </p:sp>
      <p:pic>
        <p:nvPicPr>
          <p:cNvPr id="13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OVERVIEW · 2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Platform Thinking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14711"/>
            <a:ext cx="2967534" cy="1518741"/>
          </a:xfrm>
          <a:prstGeom prst="roundRect">
            <a:avLst>
              <a:gd name="adj" fmla="val 29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31900" y="2024261"/>
            <a:ext cx="26248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Producers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9944" y="2430661"/>
            <a:ext cx="251922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publish cars, maintenance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publish events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48634" y="2472432"/>
            <a:ext cx="4064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13784" y="1814711"/>
            <a:ext cx="2967633" cy="1518741"/>
          </a:xfrm>
          <a:prstGeom prst="roundRect">
            <a:avLst>
              <a:gd name="adj" fmla="val 2927"/>
            </a:avLst>
          </a:prstGeom>
          <a:solidFill>
            <a:srgbClr val="1A4233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6A847A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923334" y="2024261"/>
            <a:ext cx="26249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Platform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21378" y="2430661"/>
            <a:ext cx="251932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Date-range availability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+ payment saga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40166" y="2472432"/>
            <a:ext cx="406400" cy="203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05316" y="1814711"/>
            <a:ext cx="2967534" cy="1518741"/>
          </a:xfrm>
          <a:prstGeom prst="roundRect">
            <a:avLst>
              <a:gd name="adj" fmla="val 29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614866" y="2024261"/>
            <a:ext cx="26248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Consumers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712910" y="2430661"/>
            <a:ext cx="251922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book and pay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 reads events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16000" y="3593802"/>
            <a:ext cx="3352800" cy="766961"/>
          </a:xfrm>
          <a:prstGeom prst="roundRect">
            <a:avLst>
              <a:gd name="adj" fmla="val 6624"/>
            </a:avLst>
          </a:prstGeom>
          <a:solidFill>
            <a:srgbClr val="DCE4DF"/>
          </a:solidFill>
          <a:ln/>
        </p:spPr>
        <p:txBody>
          <a:bodyPr wrap="square" lIns="162921" tIns="137521" rIns="73005" bIns="1121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effect: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cars draw more customers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21200" y="3593802"/>
            <a:ext cx="3352800" cy="766961"/>
          </a:xfrm>
          <a:prstGeom prst="roundRect">
            <a:avLst>
              <a:gd name="adj" fmla="val 6624"/>
            </a:avLst>
          </a:prstGeom>
          <a:solidFill>
            <a:srgbClr val="DCE4DF"/>
          </a:solidFill>
          <a:ln/>
        </p:spPr>
        <p:txBody>
          <a:bodyPr wrap="square" lIns="162921" tIns="137521" rIns="73005" bIns="1121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services: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five services, each deployable alone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26400" y="3593802"/>
            <a:ext cx="3352800" cy="766961"/>
          </a:xfrm>
          <a:prstGeom prst="roundRect">
            <a:avLst>
              <a:gd name="adj" fmla="val 6624"/>
            </a:avLst>
          </a:prstGeom>
          <a:solidFill>
            <a:srgbClr val="DCE4DF"/>
          </a:solidFill>
          <a:ln/>
        </p:spPr>
        <p:txBody>
          <a:bodyPr wrap="square" lIns="162921" tIns="137521" rIns="73005" bIns="1121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interfaces: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 APIs + outbox domain events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04</a:t>
            </a:r>
            <a:endParaRPr lang="en-US" sz="1200" dirty="0"/>
          </a:p>
        </p:txBody>
      </p:sp>
      <p:pic>
        <p:nvPicPr>
          <p:cNvPr id="20" name="Image 2" descr="NUS ISS logo">    </p:cNvPr>
          <p:cNvPicPr>
            <a:picLocks noChangeAspect="1"/>
          </p:cNvPicPr>
          <p:nvPr/>
        </p:nvPicPr>
        <p:blipFill>
          <a:blip r:embed="rId3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OVERVIEW · 2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Project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5041900" cy="2120503"/>
          </a:xfrm>
          <a:prstGeom prst="roundRect">
            <a:avLst>
              <a:gd name="adj" fmla="val 2096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" y="210046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3700" y="2100461"/>
            <a:ext cx="10129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scope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41882" y="2506861"/>
            <a:ext cx="4616958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Customer, staff and admin flows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deployment: dev + prod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with SAST + SCA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k6 load and scalability tests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30950" y="1865511"/>
            <a:ext cx="5041900" cy="2120503"/>
          </a:xfrm>
          <a:prstGeom prst="roundRect">
            <a:avLst>
              <a:gd name="adj" fmla="val 2096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6A847A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5900" y="2100461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72300" y="2100461"/>
            <a:ext cx="15188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444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 of scope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650482" y="2506861"/>
            <a:ext cx="461695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payment provider (in-process mock gateway)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tokens and token revocation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Queue-based autoscaling (KEDA), multi-region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16000" y="4297164"/>
            <a:ext cx="1067409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Assumptions:</a:t>
            </a:r>
            <a:r>
              <a:rPr lang="en-US" sz="13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 AWS budget (spot nodes, daily teardown); depth on correctness and scalability over feature breadth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05</a:t>
            </a:r>
            <a:endParaRPr lang="en-US" sz="1200" dirty="0"/>
          </a:p>
        </p:txBody>
      </p:sp>
      <p:pic>
        <p:nvPicPr>
          <p:cNvPr id="15" name="Image 2" descr="NUS ISS logo">    </p:cNvPr>
          <p:cNvPicPr>
            <a:picLocks noChangeAspect="1"/>
          </p:cNvPicPr>
          <p:nvPr/>
        </p:nvPicPr>
        <p:blipFill>
          <a:blip r:embed="rId3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PROJECT CONDUCT · 1.5 + 0.5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Current Status and Outstanding Issues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2781300" cy="2044601"/>
          </a:xfrm>
          <a:prstGeom prst="roundRect">
            <a:avLst>
              <a:gd name="adj" fmla="val 2174"/>
            </a:avLst>
          </a:prstGeom>
          <a:solidFill>
            <a:srgbClr val="1A4233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6A847A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82700" y="2125861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COMPLETION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2700" y="2389981"/>
            <a:ext cx="2328418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7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100%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1282700" y="3418681"/>
            <a:ext cx="2514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 services + frontend deployed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4000" y="1859161"/>
            <a:ext cx="753465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Outstanding issues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372850" y="2265561"/>
            <a:ext cx="0" cy="1821755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064000" y="4080966"/>
            <a:ext cx="7315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76700" y="2278261"/>
          <a:ext cx="7289800" cy="1796355"/>
        </p:xfrm>
        <a:graphic>
          <a:graphicData uri="http://schemas.openxmlformats.org/drawingml/2006/table">
            <a:tbl>
              <a:tblPr/>
              <a:tblGrid>
                <a:gridCol w="3207512"/>
                <a:gridCol w="1457960"/>
                <a:gridCol w="262432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Issue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 / owner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CPU-based HPA lags pool exhaustion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KEDA on pending connections / future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Frontend tests off in CI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Re-enable npm test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token revocation or refresh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DynamoDB sessions / defer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CloudFront masks API 404s as 200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Scoped /api/* behaviour / defer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06</a:t>
            </a:r>
            <a:endParaRPr lang="en-US" sz="1200" dirty="0"/>
          </a:p>
        </p:txBody>
      </p:sp>
      <p:pic>
        <p:nvPicPr>
          <p:cNvPr id="14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PROJECT CONDUCT · 1.5 + 0.5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Milestones and Team Effort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884561"/>
            <a:ext cx="1991320" cy="0"/>
          </a:xfrm>
          <a:prstGeom prst="line">
            <a:avLst/>
          </a:prstGeom>
          <a:noFill/>
          <a:ln w="50800">
            <a:solidFill>
              <a:srgbClr val="1A42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16000" y="2011561"/>
            <a:ext cx="19987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 · Services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6000" y="2268041"/>
            <a:ext cx="19987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· Done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20" y="1884561"/>
            <a:ext cx="1991420" cy="0"/>
          </a:xfrm>
          <a:prstGeom prst="line">
            <a:avLst/>
          </a:prstGeom>
          <a:noFill/>
          <a:ln w="50800">
            <a:solidFill>
              <a:srgbClr val="1A42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08920" y="2011561"/>
            <a:ext cx="19988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·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20" y="2268041"/>
            <a:ext cx="19988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Aug · Done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01940" y="1884561"/>
            <a:ext cx="1991320" cy="0"/>
          </a:xfrm>
          <a:prstGeom prst="line">
            <a:avLst/>
          </a:prstGeom>
          <a:noFill/>
          <a:ln w="50800">
            <a:solidFill>
              <a:srgbClr val="1A42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01940" y="2011561"/>
            <a:ext cx="19987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 · AWS + CI/CD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01940" y="2268041"/>
            <a:ext cx="19987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Sep · Done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94860" y="1884561"/>
            <a:ext cx="1991420" cy="0"/>
          </a:xfrm>
          <a:prstGeom prst="line">
            <a:avLst/>
          </a:prstGeom>
          <a:noFill/>
          <a:ln w="50800">
            <a:solidFill>
              <a:srgbClr val="6A847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94860" y="2011561"/>
            <a:ext cx="19988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 · Load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94860" y="2268041"/>
            <a:ext cx="19988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Sep · 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87880" y="1884561"/>
            <a:ext cx="1991320" cy="0"/>
          </a:xfrm>
          <a:prstGeom prst="line">
            <a:avLst/>
          </a:prstGeom>
          <a:noFill/>
          <a:ln w="5080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87880" y="2011561"/>
            <a:ext cx="19987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 · Final demo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87880" y="2268041"/>
            <a:ext cx="19987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Oct · Planned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372850" y="2786162"/>
            <a:ext cx="0" cy="2540298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16000" y="5320109"/>
            <a:ext cx="1036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2798862"/>
          <a:ext cx="10337800" cy="2514898"/>
        </p:xfrm>
        <a:graphic>
          <a:graphicData uri="http://schemas.openxmlformats.org/drawingml/2006/table">
            <a:tbl>
              <a:tblPr/>
              <a:tblGrid>
                <a:gridCol w="2274316"/>
                <a:gridCol w="2274316"/>
                <a:gridCol w="4135120"/>
                <a:gridCol w="165404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Member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 contributions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Effort (h)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John Ling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DevOps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AWS infrastructure, CI/CD, SonarCloud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Sachin Agrawal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Frontend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React SPA, booking and admin pages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Quek Shen 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Architecture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 boundaries, saga, load testing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Muhammad Nur Hakim Bin Azman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Backend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Spring Boot services and APIs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/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/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[__]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07</a:t>
            </a:r>
            <a:endParaRPr lang="en-US" sz="1200" dirty="0"/>
          </a:p>
        </p:txBody>
      </p:sp>
      <p:pic>
        <p:nvPicPr>
          <p:cNvPr id="24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LOGICAL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Architectural Decisions: Logical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372850" y="1859161"/>
            <a:ext cx="0" cy="2514997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6000" y="4367808"/>
            <a:ext cx="1036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1871861"/>
          <a:ext cx="10337800" cy="2489597"/>
        </p:xfrm>
        <a:graphic>
          <a:graphicData uri="http://schemas.openxmlformats.org/drawingml/2006/table">
            <a:tbl>
              <a:tblPr/>
              <a:tblGrid>
                <a:gridCol w="1033780"/>
                <a:gridCol w="3101340"/>
                <a:gridCol w="3308096"/>
                <a:gridCol w="289458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Rationale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AD-01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Database per service (schema + role, no grants)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boundary you can cross is not a boundary; db-isolation proves 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RDS instance shared; no joins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AD-02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cross-service joins: snapshot or call the owner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Schemas stay private; bookings survive repricing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Duplicated car fields on booking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AD-03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Saga + idempotency, no distributed transactions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2PC blocks and does not work over HTTP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Compensation + reconciliation code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AD-04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dependency cycles: availability lives in reservation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service builds, tests and deploys alone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endpoint moved out of catalog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AD-05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Stateless JWT validated locally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Identity is never a bottleneck or SPOF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Permissions only as fresh as the token (15 min)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AD-06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Degrade, don't cascade (partial: true, null not 0)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confident zero is worse than "unknown"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Clients must handle missing sections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08</a:t>
            </a:r>
            <a:endParaRPr lang="en-US" sz="1200" dirty="0"/>
          </a:p>
        </p:txBody>
      </p:sp>
      <p:pic>
        <p:nvPicPr>
          <p:cNvPr id="9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LOGICAL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Logical Components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68686"/>
            <a:ext cx="6661150" cy="3836789"/>
          </a:xfrm>
          <a:prstGeom prst="roundRect">
            <a:avLst>
              <a:gd name="adj" fmla="val 1076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956550" y="1865511"/>
            <a:ext cx="3416300" cy="3843139"/>
          </a:xfrm>
          <a:prstGeom prst="roundRect">
            <a:avLst>
              <a:gd name="adj" fmla="val 1301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191500" y="210046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components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89544" y="2506861"/>
            <a:ext cx="292912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cars, maintenance; calls nothing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availability, bookings, snapshot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payment saga, refunds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consumes events; calls nothing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JWT, admin dashboard; no callers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09</a:t>
            </a:r>
            <a:endParaRPr lang="en-US" sz="1200" dirty="0"/>
          </a:p>
        </p:txBody>
      </p:sp>
      <p:pic>
        <p:nvPicPr>
          <p:cNvPr id="12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3" name="Picture 12" descr="crop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819" y="1911095"/>
            <a:ext cx="6335448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LOGICAL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Domain-Driven Design for the Platform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14711"/>
            <a:ext cx="2273300" cy="1980902"/>
          </a:xfrm>
          <a:prstGeom prst="roundRect">
            <a:avLst>
              <a:gd name="adj" fmla="val 2244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31900" y="2024261"/>
            <a:ext cx="19098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Producers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9944" y="2430661"/>
            <a:ext cx="180695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APIs, DTOs only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Outbox domain events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54400" y="2703513"/>
            <a:ext cx="4064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19550" y="1814711"/>
            <a:ext cx="4356100" cy="1980902"/>
          </a:xfrm>
          <a:prstGeom prst="roundRect">
            <a:avLst>
              <a:gd name="adj" fmla="val 2244"/>
            </a:avLst>
          </a:prstGeom>
          <a:solidFill>
            <a:srgbClr val="1A4233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6A847A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229100" y="2024261"/>
            <a:ext cx="40551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Platform core: bounded contexts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29100" y="2430661"/>
            <a:ext cx="1917700" cy="434280"/>
          </a:xfrm>
          <a:prstGeom prst="roundRect">
            <a:avLst>
              <a:gd name="adj" fmla="val 8773"/>
            </a:avLst>
          </a:prstGeom>
          <a:solidFill>
            <a:srgbClr val="F5F3EF"/>
          </a:solidFill>
          <a:ln/>
        </p:spPr>
        <p:txBody>
          <a:bodyPr wrap="square" lIns="115841" tIns="90441" rIns="65041" bIns="6504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48400" y="2430661"/>
            <a:ext cx="1917700" cy="434280"/>
          </a:xfrm>
          <a:prstGeom prst="roundRect">
            <a:avLst>
              <a:gd name="adj" fmla="val 8773"/>
            </a:avLst>
          </a:prstGeom>
          <a:solidFill>
            <a:srgbClr val="F5F3EF"/>
          </a:solidFill>
          <a:ln/>
        </p:spPr>
        <p:txBody>
          <a:bodyPr wrap="square" lIns="115841" tIns="90441" rIns="65041" bIns="6504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29100" y="2966541"/>
            <a:ext cx="1917700" cy="434280"/>
          </a:xfrm>
          <a:prstGeom prst="roundRect">
            <a:avLst>
              <a:gd name="adj" fmla="val 8773"/>
            </a:avLst>
          </a:prstGeom>
          <a:solidFill>
            <a:srgbClr val="F5F3EF"/>
          </a:solidFill>
          <a:ln/>
        </p:spPr>
        <p:txBody>
          <a:bodyPr wrap="square" lIns="115841" tIns="90441" rIns="65041" bIns="6504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48400" y="2966541"/>
            <a:ext cx="1917700" cy="434280"/>
          </a:xfrm>
          <a:prstGeom prst="roundRect">
            <a:avLst>
              <a:gd name="adj" fmla="val 8773"/>
            </a:avLst>
          </a:prstGeom>
          <a:solidFill>
            <a:srgbClr val="F5F3EF"/>
          </a:solidFill>
          <a:ln/>
        </p:spPr>
        <p:txBody>
          <a:bodyPr wrap="square" lIns="115841" tIns="90441" rIns="65041" bIns="6504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</a:t>
            </a:r>
            <a:endParaRPr lang="en-US" sz="13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34400" y="2703513"/>
            <a:ext cx="406400" cy="203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099550" y="1814711"/>
            <a:ext cx="2273300" cy="1980902"/>
          </a:xfrm>
          <a:prstGeom prst="roundRect">
            <a:avLst>
              <a:gd name="adj" fmla="val 2244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309100" y="2024261"/>
            <a:ext cx="19098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Consumers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407144" y="2430661"/>
            <a:ext cx="1806956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via SPA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 subscribes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reads stats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16000" y="4055963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DDD PATTERNS USED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16000" y="4370884"/>
            <a:ext cx="1519138" cy="365720"/>
          </a:xfrm>
          <a:prstGeom prst="roundRect">
            <a:avLst>
              <a:gd name="adj" fmla="val 50000"/>
            </a:avLst>
          </a:prstGeom>
          <a:solidFill>
            <a:srgbClr val="DCE4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Aggregates: Booking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636738" y="4370884"/>
            <a:ext cx="1757660" cy="365720"/>
          </a:xfrm>
          <a:prstGeom prst="roundRect">
            <a:avLst>
              <a:gd name="adj" fmla="val 50000"/>
            </a:avLst>
          </a:prstGeom>
          <a:solidFill>
            <a:srgbClr val="DCE4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Events: outbox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95998" y="4370884"/>
            <a:ext cx="2218928" cy="365720"/>
          </a:xfrm>
          <a:prstGeom prst="roundRect">
            <a:avLst>
              <a:gd name="adj" fmla="val 50000"/>
            </a:avLst>
          </a:prstGeom>
          <a:solidFill>
            <a:srgbClr val="DCE4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ACL: car snapshot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816527" y="4370884"/>
            <a:ext cx="3012281" cy="365720"/>
          </a:xfrm>
          <a:prstGeom prst="roundRect">
            <a:avLst>
              <a:gd name="adj" fmla="val 50000"/>
            </a:avLst>
          </a:prstGeom>
          <a:solidFill>
            <a:srgbClr val="DCE4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host: Fleet API · JWT claims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10</a:t>
            </a:r>
            <a:endParaRPr lang="en-US" sz="1200" dirty="0"/>
          </a:p>
        </p:txBody>
      </p:sp>
      <p:pic>
        <p:nvPicPr>
          <p:cNvPr id="25" name="Image 2" descr="NUS ISS logo">    </p:cNvPr>
          <p:cNvPicPr>
            <a:picLocks noChangeAspect="1"/>
          </p:cNvPicPr>
          <p:nvPr/>
        </p:nvPicPr>
        <p:blipFill>
          <a:blip r:embed="rId3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PHYSICAL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Architectural Decisions: Physical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372850" y="1859161"/>
            <a:ext cx="0" cy="2283916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6000" y="4136727"/>
            <a:ext cx="1036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1871861"/>
          <a:ext cx="10337800" cy="2258516"/>
        </p:xfrm>
        <a:graphic>
          <a:graphicData uri="http://schemas.openxmlformats.org/drawingml/2006/table">
            <a:tbl>
              <a:tblPr/>
              <a:tblGrid>
                <a:gridCol w="1033780"/>
                <a:gridCol w="3101340"/>
                <a:gridCol w="3308096"/>
                <a:gridCol w="289458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Rationale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PD-01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CloudFront as the only public entry (/ and /api/*)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origin: no CORS, certificate or domain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Edge rewrites 404s for the SPA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PD-02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ALB via IngressGroup; spot nodes; no NAT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~70% cheaper; pods are stateless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Spot interruptions; public subnets + SGs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PD-03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Persistent vs ephemeral layers + lease Lambda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$0.80/month idle, $0.21/hour running; no runaway bill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~20 min to bring the cluster up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PD-04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 dev and prod (own cluster, RDS, logs)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load test on dev cannot starve the prod demo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 of everything ephemeral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PD-05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HPA per service + Cluster Autoscaler (2-5 nodes)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Capacity follows demand automatically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Notification needs queue-based scaling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11</a:t>
            </a:r>
            <a:endParaRPr lang="en-US" sz="1200" dirty="0"/>
          </a:p>
        </p:txBody>
      </p:sp>
      <p:pic>
        <p:nvPicPr>
          <p:cNvPr id="9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PHYSICAL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Physical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68686"/>
            <a:ext cx="6661150" cy="3836789"/>
          </a:xfrm>
          <a:prstGeom prst="roundRect">
            <a:avLst>
              <a:gd name="adj" fmla="val 1076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956550" y="1865511"/>
            <a:ext cx="3416300" cy="3843139"/>
          </a:xfrm>
          <a:prstGeom prst="roundRect">
            <a:avLst>
              <a:gd name="adj" fmla="val 1301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191500" y="2100461"/>
            <a:ext cx="30347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91500" y="2356941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VPC · one ALB · private 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91500" y="2697262"/>
            <a:ext cx="30347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91500" y="2953742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· 2-5 spot nodes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91500" y="3294063"/>
            <a:ext cx="30347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91500" y="3550543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21 · Spring Boot · React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91500" y="3890863"/>
            <a:ext cx="30347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services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91500" y="4147344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CloudFront · S3 · ECR · RDS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12</a:t>
            </a:r>
            <a:endParaRPr lang="en-US" sz="1200" dirty="0"/>
          </a:p>
        </p:txBody>
      </p:sp>
      <p:pic>
        <p:nvPicPr>
          <p:cNvPr id="18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9" name="Picture 18" descr="crop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7" y="2458296"/>
            <a:ext cx="6565392" cy="26546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PHYSICAL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System Overview: Services on AWS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17886"/>
            <a:ext cx="10344150" cy="3887589"/>
          </a:xfrm>
          <a:prstGeom prst="roundRect">
            <a:avLst>
              <a:gd name="adj" fmla="val 1062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13</a:t>
            </a:r>
            <a:endParaRPr lang="en-US" sz="1200" dirty="0"/>
          </a:p>
        </p:txBody>
      </p:sp>
      <p:pic>
        <p:nvPicPr>
          <p:cNvPr id="9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0" name="Picture 9" descr="crop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520" y="1865376"/>
            <a:ext cx="7561079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PHYSICAL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Persistence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372850" y="1859161"/>
            <a:ext cx="0" cy="1821755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6000" y="3674566"/>
            <a:ext cx="1036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1871861"/>
          <a:ext cx="10337800" cy="1796355"/>
        </p:xfrm>
        <a:graphic>
          <a:graphicData uri="http://schemas.openxmlformats.org/drawingml/2006/table">
            <a:tbl>
              <a:tblPr/>
              <a:tblGrid>
                <a:gridCol w="2067560"/>
                <a:gridCol w="1654048"/>
                <a:gridCol w="2067560"/>
                <a:gridCol w="2274316"/>
                <a:gridCol w="227431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Owning service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held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PostgreSQL 17 (RDS)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Relational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 schema each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ACID, DB invariants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booking_day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PK (car_id, day)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reservation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 per day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double-booking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UNIQUE keys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Idempotency key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Safe retries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outbox_event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reservation, payment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events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Atomic with change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3985716"/>
            <a:ext cx="5054600" cy="766961"/>
          </a:xfrm>
          <a:prstGeom prst="roundRect">
            <a:avLst>
              <a:gd name="adj" fmla="val 6624"/>
            </a:avLst>
          </a:prstGeom>
          <a:solidFill>
            <a:srgbClr val="DCE4DF"/>
          </a:solidFill>
          <a:ln/>
        </p:spPr>
        <p:txBody>
          <a:bodyPr wrap="square" lIns="162921" tIns="137521" rIns="21951" bIns="1121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Consistency: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schema per service; saga + outbox across services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24600" y="3985716"/>
            <a:ext cx="5054600" cy="766961"/>
          </a:xfrm>
          <a:prstGeom prst="roundRect">
            <a:avLst>
              <a:gd name="adj" fmla="val 6624"/>
            </a:avLst>
          </a:prstGeom>
          <a:solidFill>
            <a:srgbClr val="DCE4DF"/>
          </a:solidFill>
          <a:ln/>
        </p:spPr>
        <p:txBody>
          <a:bodyPr wrap="square" lIns="162921" tIns="137521" rIns="21951" bIns="1121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and retention:</a:t>
            </a: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DB dumped to S3 on teardown; logs 7 days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14</a:t>
            </a:r>
            <a:endParaRPr lang="en-US" sz="1200" dirty="0"/>
          </a:p>
        </p:txBody>
      </p:sp>
      <p:pic>
        <p:nvPicPr>
          <p:cNvPr id="11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PHYSICAL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Persistence: Schema per Service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17886"/>
            <a:ext cx="10344150" cy="3887589"/>
          </a:xfrm>
          <a:prstGeom prst="roundRect">
            <a:avLst>
              <a:gd name="adj" fmla="val 1062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15</a:t>
            </a:r>
            <a:endParaRPr lang="en-US" sz="1200" dirty="0"/>
          </a:p>
        </p:txBody>
      </p:sp>
      <p:pic>
        <p:nvPicPr>
          <p:cNvPr id="9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0" name="Picture 9" descr="crop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464" y="1865376"/>
            <a:ext cx="915119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PHYSICAL ARCHITECTURE &amp; DESIGN · 7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Representative Use Case: Book and Pay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68686"/>
            <a:ext cx="6280150" cy="3836789"/>
          </a:xfrm>
          <a:prstGeom prst="roundRect">
            <a:avLst>
              <a:gd name="adj" fmla="val 1076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575550" y="1865511"/>
            <a:ext cx="3797300" cy="3843139"/>
          </a:xfrm>
          <a:prstGeom prst="roundRect">
            <a:avLst>
              <a:gd name="adj" fmla="val 1171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10500" y="2100461"/>
            <a:ext cx="34272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Flow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83823" y="2506861"/>
            <a:ext cx="3346279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0677" indent="-180677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Book: one tx, or 409</a:t>
            </a:r>
            <a:endParaRPr lang="en-US" sz="1200" dirty="0"/>
          </a:p>
          <a:p>
            <a:pPr algn="l" marL="180677" indent="-180677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Pay: INITIATED before charge</a:t>
            </a:r>
            <a:endParaRPr lang="en-US" sz="1200" dirty="0"/>
          </a:p>
          <a:p>
            <a:pPr algn="l" marL="180677" indent="-180677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 confirm, else compensate</a:t>
            </a:r>
            <a:endParaRPr lang="en-US" sz="1200" dirty="0"/>
          </a:p>
          <a:p>
            <a:pPr algn="l" marL="180677" indent="-180677">
              <a:lnSpc>
                <a:spcPts val="168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Outbox relays the event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0500" y="3888383"/>
            <a:ext cx="342722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representative:</a:t>
            </a: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exercises almost every decision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16</a:t>
            </a:r>
            <a:endParaRPr lang="en-US" sz="1200" dirty="0"/>
          </a:p>
        </p:txBody>
      </p:sp>
      <p:pic>
        <p:nvPicPr>
          <p:cNvPr id="13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4" name="Picture 13" descr="crop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867" y="1911095"/>
            <a:ext cx="4738448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DEVOPS &amp; DEVELOPMENT LIFECYCLE · 6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Source Code and Artifact Management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3272334" cy="2438102"/>
          </a:xfrm>
          <a:prstGeom prst="roundRect">
            <a:avLst>
              <a:gd name="adj" fmla="val 1823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6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" y="210046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" y="2506861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Repositories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55344" y="2913261"/>
            <a:ext cx="2780843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 on GitHub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standalone Maven services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shared library or parent POM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61384" y="1865511"/>
            <a:ext cx="3272433" cy="2438102"/>
          </a:xfrm>
          <a:prstGeom prst="roundRect">
            <a:avLst>
              <a:gd name="adj" fmla="val 1823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10" name="Image 1" descr="Lin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96334" y="2100461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96334" y="2506861"/>
            <a:ext cx="28866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Branching and review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894378" y="2913261"/>
            <a:ext cx="278094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feature/** → dev → main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+ green CI on dev and main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sync-main auto-PRs; CODEOWNERS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00516" y="1865511"/>
            <a:ext cx="3272334" cy="2438102"/>
          </a:xfrm>
          <a:prstGeom prst="roundRect">
            <a:avLst>
              <a:gd name="adj" fmla="val 1823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14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35466" y="2100461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5466" y="2506861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Artifacts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433510" y="2913261"/>
            <a:ext cx="2780843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ECR: rentez-&lt;service&gt;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Tagged short + full commit SHA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in SSM; Helm values per service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17</a:t>
            </a:r>
            <a:endParaRPr lang="en-US" sz="1200" dirty="0"/>
          </a:p>
        </p:txBody>
      </p:sp>
      <p:pic>
        <p:nvPicPr>
          <p:cNvPr id="18" name="Image 3" descr="NUS ISS logo">    </p:cNvPr>
          <p:cNvPicPr>
            <a:picLocks noChangeAspect="1"/>
          </p:cNvPicPr>
          <p:nvPr/>
        </p:nvPicPr>
        <p:blipFill>
          <a:blip r:embed="rId4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DEVOPS &amp; DEVELOPMENT LIFECYCLE · 6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DevOps Pipeline and Procedures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1162943" cy="789880"/>
          </a:xfrm>
          <a:prstGeom prst="roundRect">
            <a:avLst>
              <a:gd name="adj" fmla="val 56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6106" y="1998861"/>
            <a:ext cx="755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0851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67843" y="2209602"/>
            <a:ext cx="2032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53593" y="1865511"/>
            <a:ext cx="1163042" cy="789880"/>
          </a:xfrm>
          <a:prstGeom prst="roundRect">
            <a:avLst>
              <a:gd name="adj" fmla="val 56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881878" y="1998861"/>
            <a:ext cx="50637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32194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</a:t>
            </a:r>
            <a:endParaRPr lang="en-US" sz="12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99185" y="2209602"/>
            <a:ext cx="203200" cy="10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84935" y="1865511"/>
            <a:ext cx="1162943" cy="789880"/>
          </a:xfrm>
          <a:prstGeom prst="roundRect">
            <a:avLst>
              <a:gd name="adj" fmla="val 56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471561" y="1998861"/>
            <a:ext cx="3896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163437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</a:t>
            </a:r>
            <a:endParaRPr lang="en-US" sz="1200" dirty="0"/>
          </a:p>
        </p:txBody>
      </p:sp>
      <p:pic>
        <p:nvPicPr>
          <p:cNvPr id="16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30428" y="2209602"/>
            <a:ext cx="203200" cy="101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16178" y="1865511"/>
            <a:ext cx="1162943" cy="789880"/>
          </a:xfrm>
          <a:prstGeom prst="roundRect">
            <a:avLst>
              <a:gd name="adj" fmla="val 56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5965656" y="1998861"/>
            <a:ext cx="46398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694680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CodeQL</a:t>
            </a:r>
            <a:endParaRPr lang="en-US" sz="12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61671" y="2209602"/>
            <a:ext cx="203200" cy="101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147421" y="1865511"/>
            <a:ext cx="1162943" cy="789880"/>
          </a:xfrm>
          <a:prstGeom prst="roundRect">
            <a:avLst>
              <a:gd name="adj" fmla="val 56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7325211" y="1998861"/>
            <a:ext cx="8073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Package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25923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200" dirty="0"/>
          </a:p>
        </p:txBody>
      </p:sp>
      <p:pic>
        <p:nvPicPr>
          <p:cNvPr id="24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92914" y="2209602"/>
            <a:ext cx="203200" cy="1016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8678664" y="1865511"/>
            <a:ext cx="1162943" cy="789880"/>
          </a:xfrm>
          <a:prstGeom prst="roundRect">
            <a:avLst>
              <a:gd name="adj" fmla="val 5627"/>
            </a:avLst>
          </a:prstGeom>
          <a:solidFill>
            <a:srgbClr val="1A4233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8931344" y="1998861"/>
            <a:ext cx="65758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Deploy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757166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</a:t>
            </a:r>
            <a:endParaRPr lang="en-US" sz="1200" dirty="0"/>
          </a:p>
        </p:txBody>
      </p:sp>
      <p:pic>
        <p:nvPicPr>
          <p:cNvPr id="28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24157" y="2209602"/>
            <a:ext cx="203200" cy="1016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0209907" y="1865511"/>
            <a:ext cx="1162943" cy="789880"/>
          </a:xfrm>
          <a:prstGeom prst="roundRect">
            <a:avLst>
              <a:gd name="adj" fmla="val 562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30" name="Text 22"/>
          <p:cNvSpPr/>
          <p:nvPr/>
        </p:nvSpPr>
        <p:spPr>
          <a:xfrm>
            <a:off x="10413663" y="1998861"/>
            <a:ext cx="755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Monitor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10288408" y="2308721"/>
            <a:ext cx="1005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1022350" y="2972891"/>
            <a:ext cx="5041900" cy="1569541"/>
          </a:xfrm>
          <a:prstGeom prst="roundRect">
            <a:avLst>
              <a:gd name="adj" fmla="val 2832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33" name="Text 25"/>
          <p:cNvSpPr/>
          <p:nvPr/>
        </p:nvSpPr>
        <p:spPr>
          <a:xfrm>
            <a:off x="1257300" y="3207841"/>
            <a:ext cx="4709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Environments and promotion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1355344" y="3614241"/>
            <a:ext cx="460349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feature/** → dev (dev env) → main (prod env)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CI success only, tested commit SHA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eksctl + CloudFormation + Helm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330950" y="2972891"/>
            <a:ext cx="5041900" cy="1569541"/>
          </a:xfrm>
          <a:prstGeom prst="roundRect">
            <a:avLst>
              <a:gd name="adj" fmla="val 2832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36" name="Text 28"/>
          <p:cNvSpPr/>
          <p:nvPr/>
        </p:nvSpPr>
        <p:spPr>
          <a:xfrm>
            <a:off x="6565900" y="3207841"/>
            <a:ext cx="4709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Procedures</a:t>
            </a:r>
            <a:endParaRPr lang="en-US" sz="2000" dirty="0"/>
          </a:p>
        </p:txBody>
      </p:sp>
      <p:sp>
        <p:nvSpPr>
          <p:cNvPr id="37" name="Text 29"/>
          <p:cNvSpPr/>
          <p:nvPr/>
        </p:nvSpPr>
        <p:spPr>
          <a:xfrm>
            <a:off x="6663944" y="3614241"/>
            <a:ext cx="460349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+ CodeQL + OWASP block the merge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Redeploy previous SHA with aws-deploy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and DB passwords in SSM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18</a:t>
            </a:r>
            <a:endParaRPr lang="en-US" sz="1200" dirty="0"/>
          </a:p>
        </p:txBody>
      </p:sp>
      <p:pic>
        <p:nvPicPr>
          <p:cNvPr id="39" name="Image 6" descr="NUS ISS logo">    </p:cNvPr>
          <p:cNvPicPr>
            <a:picLocks noChangeAspect="1"/>
          </p:cNvPicPr>
          <p:nvPr/>
        </p:nvPicPr>
        <p:blipFill>
          <a:blip r:embed="rId7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DEVOPS &amp; DEVELOPMENT LIFECYCLE · 6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Pipeline: Branch to Running Pods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17886"/>
            <a:ext cx="10344150" cy="3887589"/>
          </a:xfrm>
          <a:prstGeom prst="roundRect">
            <a:avLst>
              <a:gd name="adj" fmla="val 1062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19</a:t>
            </a:r>
            <a:endParaRPr lang="en-US" sz="1200" dirty="0"/>
          </a:p>
        </p:txBody>
      </p:sp>
      <p:pic>
        <p:nvPicPr>
          <p:cNvPr id="9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0" name="Picture 9" descr="crop_cicd.visual-check.2048x1320.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672" y="1865376"/>
            <a:ext cx="5896775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DEVOPS &amp; DEVELOPMENT LIFECYCLE · 6 + 1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Technical Findings and Issues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372850" y="1859161"/>
            <a:ext cx="0" cy="1821755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6000" y="3674566"/>
            <a:ext cx="1036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1871861"/>
          <a:ext cx="10337800" cy="1796355"/>
        </p:xfrm>
        <a:graphic>
          <a:graphicData uri="http://schemas.openxmlformats.org/drawingml/2006/table">
            <a:tbl>
              <a:tblPr/>
              <a:tblGrid>
                <a:gridCol w="2687828"/>
                <a:gridCol w="2481072"/>
                <a:gridCol w="2687828"/>
                <a:gridCol w="248107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Finding / issue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Root cause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Resolution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Lesson learnt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Deadlock at 50 actions/s, CPU &lt; 1%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used REQUIRES_NEW: 2nd connection per write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joins the caller's tx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Green tests do not mean it scales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Pool starved under load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Connections held across HTTP calls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tx open during remote calls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Never wait on the network holding a lock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Overload never drained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 pool wait, no HTTP timeouts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 pool timeout + HTTP timeouts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Fail fast so the system recovers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error returned 401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Error dispatch treated as anonymous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 ERROR dispatch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Masked errors hide the real cause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pods Pending for 15 min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 Autoscaler v1.35 on k8s 1.31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Pinned v1.31.5 + version guard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Verify autoscaling actually fires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 deploys shipped main's code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workflow_run github.sha = default branch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 head_sha of the tested run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 the pipeline, don't trust 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20</a:t>
            </a:r>
            <a:endParaRPr lang="en-US" sz="1200" dirty="0"/>
          </a:p>
        </p:txBody>
      </p:sp>
      <p:pic>
        <p:nvPicPr>
          <p:cNvPr id="9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4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DEVOPS · LOAD TEST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6000" y="2392660"/>
            <a:ext cx="228059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16000" y="2692301"/>
            <a:ext cx="265699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C9D4C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&lt;50</a:t>
            </a:r>
            <a:endParaRPr lang="en-US" sz="100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39766" y="2986980"/>
            <a:ext cx="7620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1366" y="2392660"/>
            <a:ext cx="228059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1366" y="2692301"/>
            <a:ext cx="265699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≥400</a:t>
            </a:r>
            <a:endParaRPr lang="en-US" sz="10000" dirty="0"/>
          </a:p>
        </p:txBody>
      </p:sp>
      <p:sp>
        <p:nvSpPr>
          <p:cNvPr id="9" name="Text 6"/>
          <p:cNvSpPr/>
          <p:nvPr/>
        </p:nvSpPr>
        <p:spPr>
          <a:xfrm>
            <a:off x="1016000" y="5379740"/>
            <a:ext cx="106740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Actions/s supported locally after the five fixes: same hardware, same 3-connection pools, no new infrastructure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21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52000" y="5994400"/>
            <a:ext cx="1727200" cy="5080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/>
        </p:spPr>
        <p:txBody>
          <a:bodyPr/>
          <a:p/>
        </p:txBody>
      </p:sp>
      <p:pic>
        <p:nvPicPr>
          <p:cNvPr id="12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7536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DEMO · 8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Performance on AWS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82700" y="20750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814439" y="22465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ms at 100/s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14439" y="25283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dev, through CloudFront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5550" y="18655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65900" y="20750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97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097639" y="22465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p99 ms at 100/s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7639" y="25283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&lt; 1000 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2350" y="33387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82700" y="35482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814439" y="37197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 at 100/s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4439" y="40015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&lt; 1%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5550" y="33387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65900" y="35482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097639" y="37197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pods at peak (from 2)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7639" y="40015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2 → 3 via Cluster Autoscaler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22</a:t>
            </a:r>
            <a:endParaRPr lang="en-US" sz="1200" dirty="0"/>
          </a:p>
        </p:txBody>
      </p:sp>
      <p:pic>
        <p:nvPicPr>
          <p:cNvPr id="22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DEMO · 8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Scalability: Capacity Follows Demand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17886"/>
            <a:ext cx="10344150" cy="3887589"/>
          </a:xfrm>
          <a:prstGeom prst="roundRect">
            <a:avLst>
              <a:gd name="adj" fmla="val 1062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23</a:t>
            </a:r>
            <a:endParaRPr lang="en-US" sz="1200" dirty="0"/>
          </a:p>
        </p:txBody>
      </p:sp>
      <p:pic>
        <p:nvPicPr>
          <p:cNvPr id="9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  <p:pic>
        <p:nvPicPr>
          <p:cNvPr id="10" name="Picture 9" descr="crop_aws-stress-after-ca-f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791" y="1865376"/>
            <a:ext cx="5714537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DEMO · 8 + 2 MIN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Demo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3543300" cy="1619250"/>
          </a:xfrm>
          <a:prstGeom prst="roundRect">
            <a:avLst>
              <a:gd name="adj" fmla="val 2745"/>
            </a:avLst>
          </a:prstGeom>
          <a:solidFill>
            <a:srgbClr val="1A4233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6A847A">
                <a:alpha val="100000"/>
              </a:srgbClr>
            </a:outerShdw>
          </a:effectLst>
        </p:spPr>
        <p:txBody>
          <a:bodyPr/>
          <a:p/>
        </p:txBody>
      </p:sp>
      <p:pic>
        <p:nvPicPr>
          <p:cNvPr id="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" y="210046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3700" y="2100461"/>
            <a:ext cx="16727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use cases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15541" y="2506861"/>
            <a:ext cx="3099741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5759" indent="-19575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and pay · 2 min</a:t>
            </a:r>
            <a:endParaRPr lang="en-US" sz="1300" dirty="0"/>
          </a:p>
          <a:p>
            <a:pPr algn="l" marL="195759" indent="-19575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Race: 201 + 409 · 1 min</a:t>
            </a:r>
            <a:endParaRPr lang="en-US" sz="1300" dirty="0"/>
          </a:p>
          <a:p>
            <a:pPr algn="l" marL="195759" indent="-19575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replay · 1 min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26000" y="1859161"/>
            <a:ext cx="674979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Quality attributes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1372850" y="2265561"/>
            <a:ext cx="0" cy="1821755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826000" y="4080966"/>
            <a:ext cx="65532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38700" y="2278261"/>
          <a:ext cx="6527800" cy="1796355"/>
        </p:xfrm>
        <a:graphic>
          <a:graphicData uri="http://schemas.openxmlformats.org/drawingml/2006/table">
            <a:tbl>
              <a:tblPr/>
              <a:tblGrid>
                <a:gridCol w="1958340"/>
                <a:gridCol w="2480564"/>
                <a:gridCol w="208889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we show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Scalability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HPA 2→10 pods, new node under a spike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k6 spike + kubectl watch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 thresholds pass at 100/s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k6 load test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Maintainability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 → CI → deploy, new SHA running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GitHub Actions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Resilience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partial: true with payment down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kubectl scale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RentEZ · Group 2 · 24</a:t>
            </a:r>
            <a:endParaRPr lang="en-US" sz="1200" dirty="0"/>
          </a:p>
        </p:txBody>
      </p:sp>
      <p:pic>
        <p:nvPicPr>
          <p:cNvPr id="14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4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2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17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568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94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19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45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70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696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21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347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172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998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823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060700" y="2104430"/>
            <a:ext cx="6070600" cy="2649141"/>
          </a:xfrm>
          <a:prstGeom prst="roundRect">
            <a:avLst>
              <a:gd name="adj" fmla="val 2397"/>
            </a:avLst>
          </a:prstGeom>
          <a:solidFill>
            <a:srgbClr val="F5F3EF"/>
          </a:solidFill>
          <a:ln w="254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107763" dir="2700000">
              <a:srgbClr val="10291F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>
            <p:ph type="title"/>
          </p:nvPr>
        </p:nvSpPr>
        <p:spPr>
          <a:xfrm>
            <a:off x="3581350" y="2574330"/>
            <a:ext cx="5029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4678680" y="3501430"/>
            <a:ext cx="28346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Answers</a:t>
            </a:r>
            <a:endParaRPr lang="en-US" sz="1600" dirty="0"/>
          </a:p>
        </p:txBody>
      </p:sp>
      <p:pic>
        <p:nvPicPr>
          <p:cNvPr id="20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56000" y="3912890"/>
            <a:ext cx="5080000" cy="12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402113" y="4052590"/>
            <a:ext cx="33877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2 · github.com/Uygnis/NUS-ISS-ASS-Practice-Module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550400" y="5842000"/>
            <a:ext cx="1828800" cy="609600"/>
          </a:xfrm>
          <a:prstGeom prst="roundRect">
            <a:avLst>
              <a:gd name="adj" fmla="val 8333"/>
            </a:avLst>
          </a:prstGeom>
          <a:solidFill>
            <a:srgbClr val="F5F3EF"/>
          </a:solidFill>
          <a:ln/>
        </p:spPr>
        <p:txBody>
          <a:bodyPr/>
          <a:p/>
        </p:txBody>
      </p:sp>
      <p:pic>
        <p:nvPicPr>
          <p:cNvPr id="23" name="Image 1" descr="NUS ISS logo">    </p:cNvPr>
          <p:cNvPicPr>
            <a:picLocks noChangeAspect="1"/>
          </p:cNvPicPr>
          <p:nvPr/>
        </p:nvPicPr>
        <p:blipFill>
          <a:blip r:embed="rId2"/>
          <a:srcRect l="0" r="0" t="-1078" b="-1078"/>
          <a:stretch/>
        </p:blipFill>
        <p:spPr>
          <a:xfrm>
            <a:off x="9652000" y="5924550"/>
            <a:ext cx="16256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1A4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3" name="Shape 1"/>
          <p:cNvSpPr/>
          <p:nvPr/>
        </p:nvSpPr>
        <p:spPr>
          <a:xfrm>
            <a:off x="1092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4" name="Shape 2"/>
          <p:cNvSpPr/>
          <p:nvPr/>
        </p:nvSpPr>
        <p:spPr>
          <a:xfrm>
            <a:off x="1917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6" name="Shape 4"/>
          <p:cNvSpPr/>
          <p:nvPr/>
        </p:nvSpPr>
        <p:spPr>
          <a:xfrm>
            <a:off x="3568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7" name="Shape 5"/>
          <p:cNvSpPr/>
          <p:nvPr/>
        </p:nvSpPr>
        <p:spPr>
          <a:xfrm>
            <a:off x="4394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8" name="Shape 6"/>
          <p:cNvSpPr/>
          <p:nvPr/>
        </p:nvSpPr>
        <p:spPr>
          <a:xfrm>
            <a:off x="5219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9" name="Shape 7"/>
          <p:cNvSpPr/>
          <p:nvPr/>
        </p:nvSpPr>
        <p:spPr>
          <a:xfrm>
            <a:off x="6045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0" name="Shape 8"/>
          <p:cNvSpPr/>
          <p:nvPr/>
        </p:nvSpPr>
        <p:spPr>
          <a:xfrm>
            <a:off x="6870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1" name="Shape 9"/>
          <p:cNvSpPr/>
          <p:nvPr/>
        </p:nvSpPr>
        <p:spPr>
          <a:xfrm>
            <a:off x="7696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21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347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72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982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23700" y="0"/>
            <a:ext cx="381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17" name="Shape 15"/>
          <p:cNvSpPr/>
          <p:nvPr/>
        </p:nvSpPr>
        <p:spPr>
          <a:xfrm>
            <a:off x="2552700" y="1729780"/>
            <a:ext cx="7086600" cy="3398441"/>
          </a:xfrm>
          <a:prstGeom prst="roundRect">
            <a:avLst>
              <a:gd name="adj" fmla="val 1869"/>
            </a:avLst>
          </a:prstGeom>
          <a:solidFill>
            <a:srgbClr val="F5F3EF"/>
          </a:solidFill>
          <a:ln w="254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107763" dir="2700000">
              <a:srgbClr val="10291F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73400" y="2199680"/>
            <a:ext cx="62265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· NOT FOR PRESENTING</a:t>
            </a:r>
            <a:endParaRPr lang="en-US" sz="1200" dirty="0"/>
          </a:p>
        </p:txBody>
      </p:sp>
      <p:sp>
        <p:nvSpPr>
          <p:cNvPr id="19" name="Text 17"/>
          <p:cNvSpPr/>
          <p:nvPr>
            <p:ph type="title"/>
          </p:nvPr>
        </p:nvSpPr>
        <p:spPr>
          <a:xfrm>
            <a:off x="3073400" y="2565400"/>
            <a:ext cx="622655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Template Library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3073400" y="3517900"/>
            <a:ext cx="622655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a slide below, move it into your section, then replace the placeholders.</a:t>
            </a:r>
            <a:endParaRPr lang="en-US" sz="1600" dirty="0"/>
          </a:p>
        </p:txBody>
      </p:sp>
      <p:pic>
        <p:nvPicPr>
          <p:cNvPr id="21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3400" y="4239220"/>
            <a:ext cx="6096000" cy="12700"/>
          </a:xfrm>
          <a:prstGeom prst="rect">
            <a:avLst/>
          </a:prstGeom>
        </p:spPr>
      </p:pic>
      <p:pic>
        <p:nvPicPr>
          <p:cNvPr id="22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73400" y="4404320"/>
            <a:ext cx="254000" cy="2540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403600" y="4406900"/>
            <a:ext cx="990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400" dirty="0"/>
          </a:p>
        </p:txBody>
      </p:sp>
      <p:pic>
        <p:nvPicPr>
          <p:cNvPr id="24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4886" y="4404320"/>
            <a:ext cx="254000" cy="2540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15086" y="4406900"/>
            <a:ext cx="9582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</a:t>
            </a:r>
            <a:endParaRPr lang="en-US" sz="1400" dirty="0"/>
          </a:p>
        </p:txBody>
      </p:sp>
      <p:pic>
        <p:nvPicPr>
          <p:cNvPr id="26" name="Image 3" descr="Sta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67598" y="4404320"/>
            <a:ext cx="254000" cy="2540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97798" y="4406900"/>
            <a:ext cx="56864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550400" y="5842000"/>
            <a:ext cx="1828800" cy="609600"/>
          </a:xfrm>
          <a:prstGeom prst="roundRect">
            <a:avLst>
              <a:gd name="adj" fmla="val 8333"/>
            </a:avLst>
          </a:prstGeom>
          <a:solidFill>
            <a:srgbClr val="F5F3EF"/>
          </a:solidFill>
          <a:ln/>
        </p:spPr>
      </p:sp>
      <p:pic>
        <p:nvPicPr>
          <p:cNvPr id="29" name="Image 4" descr="NUS ISS logo">    </p:cNvPr>
          <p:cNvPicPr>
            <a:picLocks noChangeAspect="1"/>
          </p:cNvPicPr>
          <p:nvPr/>
        </p:nvPicPr>
        <p:blipFill>
          <a:blip r:embed="rId5"/>
          <a:srcRect l="0" r="0" t="-1078" b="-1078"/>
          <a:stretch/>
        </p:blipFill>
        <p:spPr>
          <a:xfrm>
            <a:off x="9652000" y="5924550"/>
            <a:ext cx="16256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[Diagram Title]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17886"/>
            <a:ext cx="10344150" cy="3887589"/>
          </a:xfrm>
          <a:prstGeom prst="roundRect">
            <a:avLst>
              <a:gd name="adj" fmla="val 1062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</p:sp>
      <p:pic>
        <p:nvPicPr>
          <p:cNvPr id="6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94400" y="3383260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00155" y="3891260"/>
            <a:ext cx="499479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diagram: replace this box with your image]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21</a:t>
            </a:r>
            <a:endParaRPr lang="en-US" sz="1200" dirty="0"/>
          </a:p>
        </p:txBody>
      </p:sp>
      <p:pic>
        <p:nvPicPr>
          <p:cNvPr id="9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[Two-Diagram Title]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5525" y="1817886"/>
            <a:ext cx="5035550" cy="3554909"/>
          </a:xfrm>
          <a:prstGeom prst="roundRect">
            <a:avLst>
              <a:gd name="adj" fmla="val 1161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</p:sp>
      <p:pic>
        <p:nvPicPr>
          <p:cNvPr id="6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40100" y="3216870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40139" y="3724870"/>
            <a:ext cx="12062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[Diagram A]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5483920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[Caption A, e.g. Before / Option 1]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34125" y="1817886"/>
            <a:ext cx="5035550" cy="3554909"/>
          </a:xfrm>
          <a:prstGeom prst="roundRect">
            <a:avLst>
              <a:gd name="adj" fmla="val 1161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</p:sp>
      <p:pic>
        <p:nvPicPr>
          <p:cNvPr id="10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48700" y="3216870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52549" y="3724870"/>
            <a:ext cx="11986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[Diagram B]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24600" y="5483920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[Caption B, e.g. After / Option 2]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22</a:t>
            </a:r>
            <a:endParaRPr lang="en-US" sz="1200" dirty="0"/>
          </a:p>
        </p:txBody>
      </p:sp>
      <p:pic>
        <p:nvPicPr>
          <p:cNvPr id="14" name="Image 2" descr="NUS ISS logo">    </p:cNvPr>
          <p:cNvPicPr>
            <a:picLocks noChangeAspect="1"/>
          </p:cNvPicPr>
          <p:nvPr/>
        </p:nvPicPr>
        <p:blipFill>
          <a:blip r:embed="rId3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4572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[DIAGRAM NAME]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5525" y="832445"/>
            <a:ext cx="10344150" cy="5000030"/>
          </a:xfrm>
          <a:prstGeom prst="roundRect">
            <a:avLst>
              <a:gd name="adj" fmla="val 825"/>
            </a:avLst>
          </a:prstGeom>
          <a:solidFill>
            <a:srgbClr val="ECEFEA"/>
          </a:solidFill>
          <a:ln w="19050">
            <a:solidFill>
              <a:srgbClr val="6A847A"/>
            </a:solidFill>
            <a:prstDash val="dash"/>
          </a:ln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94400" y="295404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11253" y="3462040"/>
            <a:ext cx="457259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large diagram: maximum area, no title]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23</a:t>
            </a:r>
            <a:endParaRPr lang="en-US" sz="1200" dirty="0"/>
          </a:p>
        </p:txBody>
      </p:sp>
      <p:pic>
        <p:nvPicPr>
          <p:cNvPr id="8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6000" y="2075160"/>
            <a:ext cx="1067409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016000" y="4081760"/>
            <a:ext cx="106740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 number means, e.g. requests per second at peak]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518620"/>
            <a:ext cx="1067409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[Context: compared with __, measured by __]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24</a:t>
            </a:r>
            <a:endParaRPr lang="en-US" sz="1200" dirty="0"/>
          </a:p>
        </p:txBody>
      </p:sp>
      <p:pic>
        <p:nvPicPr>
          <p:cNvPr id="8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[Key Numbers Title]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2739330"/>
            <a:ext cx="3272334" cy="2095401"/>
          </a:xfrm>
          <a:prstGeom prst="roundRect">
            <a:avLst>
              <a:gd name="adj" fmla="val 2121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2700" y="2999680"/>
            <a:ext cx="2834183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7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1282700" y="4053780"/>
            <a:ext cx="283418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1 label]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2700" y="4361061"/>
            <a:ext cx="28341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 context or target]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61384" y="2739330"/>
            <a:ext cx="3272433" cy="2095401"/>
          </a:xfrm>
          <a:prstGeom prst="roundRect">
            <a:avLst>
              <a:gd name="adj" fmla="val 2121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1734" y="2999680"/>
            <a:ext cx="2834285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7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4821734" y="4053780"/>
            <a:ext cx="28342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2 label]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1734" y="4361061"/>
            <a:ext cx="28342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 context or target]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0516" y="2739330"/>
            <a:ext cx="3272334" cy="2095401"/>
          </a:xfrm>
          <a:prstGeom prst="roundRect">
            <a:avLst>
              <a:gd name="adj" fmla="val 2121"/>
            </a:avLst>
          </a:prstGeom>
          <a:solidFill>
            <a:srgbClr val="1A4233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6A847A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0866" y="2999680"/>
            <a:ext cx="2834183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7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8360866" y="4053780"/>
            <a:ext cx="283418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3 label: the headline]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0866" y="4361061"/>
            <a:ext cx="28341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 context or target]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25</a:t>
            </a:r>
            <a:endParaRPr lang="en-US" sz="1200" dirty="0"/>
          </a:p>
        </p:txBody>
      </p:sp>
      <p:pic>
        <p:nvPicPr>
          <p:cNvPr id="18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[Results Title]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2700" y="20750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814439" y="22465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1]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14439" y="25283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[Context]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5550" y="18655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900" y="20750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097639" y="22465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2]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7639" y="25283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[Context]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2350" y="33387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2700" y="35482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814439" y="37197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3]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4439" y="40015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[Context]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5550" y="3338711"/>
            <a:ext cx="5067300" cy="1257300"/>
          </a:xfrm>
          <a:prstGeom prst="roundRect">
            <a:avLst>
              <a:gd name="adj" fmla="val 3535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900" y="3548261"/>
            <a:ext cx="1379339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097639" y="3719711"/>
            <a:ext cx="31053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 4]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7639" y="4001591"/>
            <a:ext cx="310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[Context]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26</a:t>
            </a:r>
            <a:endParaRPr lang="en-US" sz="1200" dirty="0"/>
          </a:p>
        </p:txBody>
      </p:sp>
      <p:pic>
        <p:nvPicPr>
          <p:cNvPr id="22" name="Image 0" descr="NUS ISS logo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1A4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6A847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6000" y="2392660"/>
            <a:ext cx="228059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16000" y="2692301"/>
            <a:ext cx="265699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C9D4C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100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39766" y="2986980"/>
            <a:ext cx="7620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1366" y="2392660"/>
            <a:ext cx="228059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1366" y="2692301"/>
            <a:ext cx="265699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5F3E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[___]</a:t>
            </a:r>
            <a:endParaRPr lang="en-US" sz="10000" dirty="0"/>
          </a:p>
        </p:txBody>
      </p:sp>
      <p:sp>
        <p:nvSpPr>
          <p:cNvPr id="9" name="Text 6"/>
          <p:cNvSpPr/>
          <p:nvPr/>
        </p:nvSpPr>
        <p:spPr>
          <a:xfrm>
            <a:off x="1016000" y="5379740"/>
            <a:ext cx="106740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changed, e.g. p95 response time after caching]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52000" y="5994400"/>
            <a:ext cx="1727200" cy="5080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/>
        </p:spPr>
      </p:sp>
      <p:pic>
        <p:nvPicPr>
          <p:cNvPr id="12" name="Image 1" descr="NUS ISS logo">    </p:cNvPr>
          <p:cNvPicPr>
            <a:picLocks noChangeAspect="1"/>
          </p:cNvPicPr>
          <p:nvPr/>
        </p:nvPicPr>
        <p:blipFill>
          <a:blip r:embed="rId2"/>
          <a:srcRect l="-187" r="-187" t="0" b="0"/>
          <a:stretch/>
        </p:blipFill>
        <p:spPr>
          <a:xfrm>
            <a:off x="97536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· ICON LIBRARY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Icon Set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147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6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0300" y="189726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700" y="1943001"/>
            <a:ext cx="6480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15270" y="18147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9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23220" y="189726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29620" y="1943001"/>
            <a:ext cx="4393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208191" y="18147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12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16141" y="1897261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22541" y="1943001"/>
            <a:ext cx="4760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01210" y="18147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15" name="Image 3" descr="Cha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9160" y="1897261"/>
            <a:ext cx="304800" cy="304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15560" y="1943001"/>
            <a:ext cx="4043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9394130" y="18147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18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02080" y="1897261"/>
            <a:ext cx="304800" cy="304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908480" y="1943001"/>
            <a:ext cx="5532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022350" y="23989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21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30300" y="2481461"/>
            <a:ext cx="304800" cy="304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36700" y="2527201"/>
            <a:ext cx="10522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CheckCircle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3115270" y="23989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24" name="Image 6" descr="Clo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223220" y="2481461"/>
            <a:ext cx="304800" cy="3048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629620" y="2527201"/>
            <a:ext cx="4924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5208191" y="23989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27" name="Image 7" descr="Cloud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16141" y="2481461"/>
            <a:ext cx="304800" cy="3048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722541" y="2527201"/>
            <a:ext cx="507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7301210" y="23989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30" name="Image 8" descr="Cod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09160" y="2481461"/>
            <a:ext cx="304800" cy="3048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815560" y="2527201"/>
            <a:ext cx="4618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9394130" y="23989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33" name="Image 9" descr="Databas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02080" y="2481461"/>
            <a:ext cx="304800" cy="3048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9908480" y="2527201"/>
            <a:ext cx="8177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1022350" y="29831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36" name="Image 10" descr="Globe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130300" y="3065661"/>
            <a:ext cx="304800" cy="3048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536700" y="3111401"/>
            <a:ext cx="508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Globe</a:t>
            </a:r>
            <a:endParaRPr lang="en-US" sz="1200" dirty="0"/>
          </a:p>
        </p:txBody>
      </p:sp>
      <p:sp>
        <p:nvSpPr>
          <p:cNvPr id="38" name="Shape 25"/>
          <p:cNvSpPr/>
          <p:nvPr/>
        </p:nvSpPr>
        <p:spPr>
          <a:xfrm>
            <a:off x="3115270" y="29831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39" name="Image 11" descr="GraduationCap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223220" y="3065661"/>
            <a:ext cx="304800" cy="30480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3629620" y="3111401"/>
            <a:ext cx="13008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GraduationCap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5208191" y="29831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42" name="Image 12" descr="Home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316141" y="3065661"/>
            <a:ext cx="304800" cy="30480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722541" y="3111401"/>
            <a:ext cx="5124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7301210" y="29831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45" name="Image 13" descr="Key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409160" y="3065661"/>
            <a:ext cx="304800" cy="30480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7815560" y="3111401"/>
            <a:ext cx="32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</a:t>
            </a:r>
            <a:endParaRPr lang="en-US" sz="1200" dirty="0"/>
          </a:p>
        </p:txBody>
      </p:sp>
      <p:sp>
        <p:nvSpPr>
          <p:cNvPr id="47" name="Shape 31"/>
          <p:cNvSpPr/>
          <p:nvPr/>
        </p:nvSpPr>
        <p:spPr>
          <a:xfrm>
            <a:off x="9394130" y="29831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48" name="Image 14" descr="Lightbulb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502080" y="3065661"/>
            <a:ext cx="304800" cy="30480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9908480" y="3111401"/>
            <a:ext cx="804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Lightbulb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1022350" y="35673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51" name="Image 15" descr="Lightni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130300" y="3649861"/>
            <a:ext cx="304800" cy="304800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1536700" y="3695601"/>
            <a:ext cx="800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Lightning</a:t>
            </a:r>
            <a:endParaRPr lang="en-US" sz="1200" dirty="0"/>
          </a:p>
        </p:txBody>
      </p:sp>
      <p:sp>
        <p:nvSpPr>
          <p:cNvPr id="53" name="Shape 35"/>
          <p:cNvSpPr/>
          <p:nvPr/>
        </p:nvSpPr>
        <p:spPr>
          <a:xfrm>
            <a:off x="3115270" y="35673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54" name="Image 16" descr="Link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223220" y="3649861"/>
            <a:ext cx="304800" cy="30480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3629620" y="3695601"/>
            <a:ext cx="356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</a:t>
            </a:r>
            <a:endParaRPr lang="en-US" sz="1200" dirty="0"/>
          </a:p>
        </p:txBody>
      </p:sp>
      <p:sp>
        <p:nvSpPr>
          <p:cNvPr id="56" name="Shape 37"/>
          <p:cNvSpPr/>
          <p:nvPr/>
        </p:nvSpPr>
        <p:spPr>
          <a:xfrm>
            <a:off x="5208191" y="35673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57" name="Image 17" descr="Lock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316141" y="3649861"/>
            <a:ext cx="304800" cy="304800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5722541" y="3695601"/>
            <a:ext cx="4179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</a:t>
            </a:r>
            <a:endParaRPr lang="en-US" sz="1200" dirty="0"/>
          </a:p>
        </p:txBody>
      </p:sp>
      <p:sp>
        <p:nvSpPr>
          <p:cNvPr id="59" name="Shape 39"/>
          <p:cNvSpPr/>
          <p:nvPr/>
        </p:nvSpPr>
        <p:spPr>
          <a:xfrm>
            <a:off x="7301210" y="35673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60" name="Image 18" descr="PaperPlane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409160" y="3649861"/>
            <a:ext cx="304800" cy="304800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7815560" y="3695601"/>
            <a:ext cx="988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PaperPlane</a:t>
            </a:r>
            <a:endParaRPr lang="en-US" sz="1200" dirty="0"/>
          </a:p>
        </p:txBody>
      </p:sp>
      <p:sp>
        <p:nvSpPr>
          <p:cNvPr id="62" name="Shape 41"/>
          <p:cNvSpPr/>
          <p:nvPr/>
        </p:nvSpPr>
        <p:spPr>
          <a:xfrm>
            <a:off x="9394130" y="35673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63" name="Image 19" descr="Play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9502080" y="3649861"/>
            <a:ext cx="304800" cy="304800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9908480" y="3695601"/>
            <a:ext cx="363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</a:t>
            </a:r>
            <a:endParaRPr lang="en-US" sz="1200" dirty="0"/>
          </a:p>
        </p:txBody>
      </p:sp>
      <p:sp>
        <p:nvSpPr>
          <p:cNvPr id="65" name="Shape 43"/>
          <p:cNvSpPr/>
          <p:nvPr/>
        </p:nvSpPr>
        <p:spPr>
          <a:xfrm>
            <a:off x="1022350" y="41515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66" name="Image 20" descr="Search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130300" y="4234061"/>
            <a:ext cx="304800" cy="304800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1536700" y="4279801"/>
            <a:ext cx="606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200" dirty="0"/>
          </a:p>
        </p:txBody>
      </p:sp>
      <p:sp>
        <p:nvSpPr>
          <p:cNvPr id="68" name="Shape 45"/>
          <p:cNvSpPr/>
          <p:nvPr/>
        </p:nvSpPr>
        <p:spPr>
          <a:xfrm>
            <a:off x="3115270" y="41515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69" name="Image 21" descr="Settings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3223220" y="4234061"/>
            <a:ext cx="304800" cy="304800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3629620" y="4279801"/>
            <a:ext cx="7047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</a:t>
            </a:r>
            <a:endParaRPr lang="en-US" sz="1200" dirty="0"/>
          </a:p>
        </p:txBody>
      </p:sp>
      <p:sp>
        <p:nvSpPr>
          <p:cNvPr id="71" name="Shape 47"/>
          <p:cNvSpPr/>
          <p:nvPr/>
        </p:nvSpPr>
        <p:spPr>
          <a:xfrm>
            <a:off x="5208191" y="41515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72" name="Image 22" descr="Star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5316141" y="4234061"/>
            <a:ext cx="304800" cy="304800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5722541" y="4279801"/>
            <a:ext cx="349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</a:t>
            </a:r>
            <a:endParaRPr lang="en-US" sz="1200" dirty="0"/>
          </a:p>
        </p:txBody>
      </p:sp>
      <p:sp>
        <p:nvSpPr>
          <p:cNvPr id="74" name="Shape 49"/>
          <p:cNvSpPr/>
          <p:nvPr/>
        </p:nvSpPr>
        <p:spPr>
          <a:xfrm>
            <a:off x="7301210" y="41515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75" name="Image 23" descr="ThumbsUp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7409160" y="4234061"/>
            <a:ext cx="304800" cy="304800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7815560" y="4279801"/>
            <a:ext cx="951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ThumbsUp</a:t>
            </a:r>
            <a:endParaRPr lang="en-US" sz="1200" dirty="0"/>
          </a:p>
        </p:txBody>
      </p:sp>
      <p:sp>
        <p:nvSpPr>
          <p:cNvPr id="77" name="Shape 51"/>
          <p:cNvSpPr/>
          <p:nvPr/>
        </p:nvSpPr>
        <p:spPr>
          <a:xfrm>
            <a:off x="9394130" y="41515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78" name="Image 24" descr="Tool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9502080" y="4234061"/>
            <a:ext cx="304800" cy="304800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9908480" y="4279801"/>
            <a:ext cx="3674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200" dirty="0"/>
          </a:p>
        </p:txBody>
      </p:sp>
      <p:sp>
        <p:nvSpPr>
          <p:cNvPr id="80" name="Shape 53"/>
          <p:cNvSpPr/>
          <p:nvPr/>
        </p:nvSpPr>
        <p:spPr>
          <a:xfrm>
            <a:off x="1022350" y="47357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81" name="Image 25" descr="Trust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1130300" y="4818261"/>
            <a:ext cx="304800" cy="304800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1536700" y="4864001"/>
            <a:ext cx="441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200" dirty="0"/>
          </a:p>
        </p:txBody>
      </p:sp>
      <p:sp>
        <p:nvSpPr>
          <p:cNvPr id="83" name="Shape 55"/>
          <p:cNvSpPr/>
          <p:nvPr/>
        </p:nvSpPr>
        <p:spPr>
          <a:xfrm>
            <a:off x="3115270" y="47357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84" name="Image 26" descr="Users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3223220" y="4818261"/>
            <a:ext cx="304800" cy="304800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3629620" y="4864001"/>
            <a:ext cx="504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200" dirty="0"/>
          </a:p>
        </p:txBody>
      </p:sp>
      <p:sp>
        <p:nvSpPr>
          <p:cNvPr id="86" name="Shape 57"/>
          <p:cNvSpPr/>
          <p:nvPr/>
        </p:nvSpPr>
        <p:spPr>
          <a:xfrm>
            <a:off x="5208191" y="47357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87" name="Image 27" descr="Verified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5316141" y="4818261"/>
            <a:ext cx="304800" cy="304800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5722541" y="4864001"/>
            <a:ext cx="6690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1200" dirty="0"/>
          </a:p>
        </p:txBody>
      </p:sp>
      <p:sp>
        <p:nvSpPr>
          <p:cNvPr id="89" name="Shape 59"/>
          <p:cNvSpPr/>
          <p:nvPr/>
        </p:nvSpPr>
        <p:spPr>
          <a:xfrm>
            <a:off x="7301210" y="4735711"/>
            <a:ext cx="19786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90" name="Image 28" descr="Warni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7409160" y="4818261"/>
            <a:ext cx="304800" cy="304800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7815560" y="4864001"/>
            <a:ext cx="7179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</a:t>
            </a:r>
            <a:endParaRPr lang="en-US" sz="1200" dirty="0"/>
          </a:p>
        </p:txBody>
      </p:sp>
      <p:sp>
        <p:nvSpPr>
          <p:cNvPr id="92" name="Shape 61"/>
          <p:cNvSpPr/>
          <p:nvPr/>
        </p:nvSpPr>
        <p:spPr>
          <a:xfrm>
            <a:off x="9394130" y="4735711"/>
            <a:ext cx="1978720" cy="469900"/>
          </a:xfrm>
          <a:prstGeom prst="roundRect">
            <a:avLst>
              <a:gd name="adj" fmla="val 9459"/>
            </a:avLst>
          </a:prstGeom>
          <a:solidFill>
            <a:srgbClr val="FCFBF8"/>
          </a:solidFill>
          <a:ln w="12700">
            <a:solidFill>
              <a:srgbClr val="DCE4DF"/>
            </a:solidFill>
            <a:prstDash val="solid"/>
          </a:ln>
        </p:spPr>
      </p:sp>
      <p:pic>
        <p:nvPicPr>
          <p:cNvPr id="93" name="Image 29" descr="Wrench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9502080" y="4818261"/>
            <a:ext cx="304800" cy="304800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9908480" y="4864001"/>
            <a:ext cx="667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Wrench</a:t>
            </a:r>
            <a:endParaRPr lang="en-US" sz="1200" dirty="0"/>
          </a:p>
        </p:txBody>
      </p:sp>
      <p:sp>
        <p:nvSpPr>
          <p:cNvPr id="95" name="Text 63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any icon into a slide · 28</a:t>
            </a:r>
            <a:endParaRPr lang="en-US" sz="1200" dirty="0"/>
          </a:p>
        </p:txBody>
      </p:sp>
      <p:pic>
        <p:nvPicPr>
          <p:cNvPr id="96" name="Image 30" descr="NUS ISS logo">    </p:cNvPr>
          <p:cNvPicPr>
            <a:picLocks noChangeAspect="1"/>
          </p:cNvPicPr>
          <p:nvPr/>
        </p:nvPicPr>
        <p:blipFill>
          <a:blip r:embed="rId31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· ICON MODULES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Icon Badges and Icon List</a:t>
            </a:r>
            <a:endParaRPr lang="en-US" sz="3600" dirty="0"/>
          </a:p>
        </p:txBody>
      </p:sp>
      <p:pic>
        <p:nvPicPr>
          <p:cNvPr id="5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196076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2689" y="2544961"/>
            <a:ext cx="416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22587" y="185916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8" name="Image 1" descr="Clou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74987" y="2011561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32000" y="2544961"/>
            <a:ext cx="949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circle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86820" y="185916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CE4DF"/>
          </a:solidFill>
          <a:ln/>
        </p:spPr>
      </p:sp>
      <p:pic>
        <p:nvPicPr>
          <p:cNvPr id="11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39220" y="2011561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9273" y="2544961"/>
            <a:ext cx="869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circle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87776" y="1868686"/>
            <a:ext cx="590550" cy="590550"/>
          </a:xfrm>
          <a:prstGeom prst="roundRect">
            <a:avLst>
              <a:gd name="adj" fmla="val 15591"/>
            </a:avLst>
          </a:prstGeom>
          <a:solidFill>
            <a:srgbClr val="FCFBF8"/>
          </a:solidFill>
          <a:ln w="19050">
            <a:solidFill>
              <a:srgbClr val="1A4233"/>
            </a:solidFill>
            <a:prstDash val="solid"/>
          </a:ln>
        </p:spPr>
      </p:sp>
      <p:pic>
        <p:nvPicPr>
          <p:cNvPr id="14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30651" y="2011561"/>
            <a:ext cx="304800" cy="304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60466" y="2544961"/>
            <a:ext cx="1254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 square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818485" y="1865511"/>
            <a:ext cx="596900" cy="596900"/>
          </a:xfrm>
          <a:prstGeom prst="roundRect">
            <a:avLst>
              <a:gd name="adj" fmla="val 15957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pic>
        <p:nvPicPr>
          <p:cNvPr id="17" name="Image 4" descr="Clou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64535" y="2011561"/>
            <a:ext cx="304800" cy="304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816699" y="2544961"/>
            <a:ext cx="720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tile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1016000" y="306308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20" name="Image 5" descr="Lightni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7600" y="3164681"/>
            <a:ext cx="254000" cy="254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25600" y="3167261"/>
            <a:ext cx="100462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[Point 1]</a:t>
            </a: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[One-line explanation]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1016000" y="367268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23" name="Image 6" descr="Lo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17600" y="3774281"/>
            <a:ext cx="254000" cy="2540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625600" y="3776861"/>
            <a:ext cx="100462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[Point 2]</a:t>
            </a: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[One-line explanation]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1016000" y="428228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26" name="Image 7" descr="Users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17600" y="4383881"/>
            <a:ext cx="254000" cy="2540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625600" y="4386461"/>
            <a:ext cx="100462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[Point 3]</a:t>
            </a:r>
            <a:r>
              <a:rPr lang="en-US" sz="14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[One-line explanation]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29</a:t>
            </a:r>
            <a:endParaRPr lang="en-US" sz="1200" dirty="0"/>
          </a:p>
        </p:txBody>
      </p:sp>
      <p:pic>
        <p:nvPicPr>
          <p:cNvPr id="29" name="Image 8" descr="NUS ISS logo">    </p:cNvPr>
          <p:cNvPicPr>
            <a:picLocks noChangeAspect="1"/>
          </p:cNvPicPr>
          <p:nvPr/>
        </p:nvPicPr>
        <p:blipFill>
          <a:blip r:embed="rId9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423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10674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A4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[0X SECTION] · [X + Y MIN]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016000" y="1051520"/>
            <a:ext cx="10674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1F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[Icon Cards Title]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22350" y="1865511"/>
            <a:ext cx="2425700" cy="1998861"/>
          </a:xfrm>
          <a:prstGeom prst="roundRect">
            <a:avLst>
              <a:gd name="adj" fmla="val 2224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" y="2100461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7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2214761"/>
            <a:ext cx="279400" cy="279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7300" y="2735461"/>
            <a:ext cx="201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[Card 1]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57300" y="3167261"/>
            <a:ext cx="20144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short lines that explain this point]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63950" y="1865511"/>
            <a:ext cx="2425700" cy="1998861"/>
          </a:xfrm>
          <a:prstGeom prst="roundRect">
            <a:avLst>
              <a:gd name="adj" fmla="val 2224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98900" y="2100461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12" name="Image 1" descr="Databa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13200" y="2214761"/>
            <a:ext cx="279400" cy="279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98900" y="2735461"/>
            <a:ext cx="201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[Card 2]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898900" y="3167261"/>
            <a:ext cx="20144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short lines that explain this point]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5550" y="1865511"/>
            <a:ext cx="2425700" cy="1998861"/>
          </a:xfrm>
          <a:prstGeom prst="roundRect">
            <a:avLst>
              <a:gd name="adj" fmla="val 2224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40500" y="2100461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17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4800" y="2214761"/>
            <a:ext cx="279400" cy="279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0500" y="2735461"/>
            <a:ext cx="201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[Card 3]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540500" y="3167261"/>
            <a:ext cx="20144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short lines that explain this point]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47150" y="1865511"/>
            <a:ext cx="2425700" cy="1998861"/>
          </a:xfrm>
          <a:prstGeom prst="roundRect">
            <a:avLst>
              <a:gd name="adj" fmla="val 2224"/>
            </a:avLst>
          </a:prstGeom>
          <a:solidFill>
            <a:srgbClr val="FCFBF8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0" dist="53882" dir="2700000">
              <a:srgbClr val="1A4233">
                <a:alpha val="10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82100" y="2100461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1A4233"/>
          </a:solidFill>
          <a:ln/>
        </p:spPr>
      </p:sp>
      <p:pic>
        <p:nvPicPr>
          <p:cNvPr id="22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6400" y="2214761"/>
            <a:ext cx="279400" cy="279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2100" y="2735461"/>
            <a:ext cx="201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423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[Card 4]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182100" y="3167261"/>
            <a:ext cx="20144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short lines that explain this point]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1016000" y="4175522"/>
            <a:ext cx="10363200" cy="660400"/>
          </a:xfrm>
          <a:prstGeom prst="roundRect">
            <a:avLst>
              <a:gd name="adj" fmla="val 7692"/>
            </a:avLst>
          </a:prstGeom>
          <a:solidFill>
            <a:srgbClr val="1A4233"/>
          </a:solidFill>
          <a:ln/>
        </p:spPr>
      </p:sp>
      <p:pic>
        <p:nvPicPr>
          <p:cNvPr id="26" name="Image 4" descr="Lightbulb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70000" y="4353322"/>
            <a:ext cx="304800" cy="3048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27200" y="4372372"/>
            <a:ext cx="96799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point:</a:t>
            </a:r>
            <a:r>
              <a:rPr lang="en-US" sz="1500" dirty="0">
                <a:solidFill>
                  <a:srgbClr val="F5F3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[One sentence that ties the four cards together]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0160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[Project Name] · Team [__] · 30</a:t>
            </a:r>
            <a:endParaRPr lang="en-US" sz="1200" dirty="0"/>
          </a:p>
        </p:txBody>
      </p:sp>
      <p:pic>
        <p:nvPicPr>
          <p:cNvPr id="29" name="Image 5" descr="NUS ISS logo">    </p:cNvPr>
          <p:cNvPicPr>
            <a:picLocks noChangeAspect="1"/>
          </p:cNvPicPr>
          <p:nvPr/>
        </p:nvPicPr>
        <p:blipFill>
          <a:blip r:embed="rId6"/>
          <a:srcRect l="-187" r="-187" t="0" b="0"/>
          <a:stretch/>
        </p:blipFill>
        <p:spPr>
          <a:xfrm>
            <a:off x="9855200" y="6045200"/>
            <a:ext cx="1524000" cy="40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ject Presentation Template">
  <a:themeElements>
    <a:clrScheme name="Project Presentation Template">
      <a:dk1>
        <a:srgbClr val="1F1F1F"/>
      </a:dk1>
      <a:lt1>
        <a:srgbClr val="F5F3EF"/>
      </a:lt1>
      <a:dk2>
        <a:srgbClr val="555453"/>
      </a:dk2>
      <a:lt2>
        <a:srgbClr val="E0DEDA"/>
      </a:lt2>
      <a:accent1>
        <a:srgbClr val="1A4233"/>
      </a:accent1>
      <a:accent2>
        <a:srgbClr val="6A847A"/>
      </a:accent2>
      <a:accent3>
        <a:srgbClr val="3D4440"/>
      </a:accent3>
      <a:accent4>
        <a:srgbClr val="5A5F5C"/>
      </a:accent4>
      <a:accent5>
        <a:srgbClr val="DCE4DF"/>
      </a:accent5>
      <a:accent6>
        <a:srgbClr val="C9D4CE"/>
      </a:accent6>
      <a:hlink>
        <a:srgbClr val="0563C1"/>
      </a:hlink>
      <a:folHlink>
        <a:srgbClr val="954F72"/>
      </a:folHlink>
    </a:clrScheme>
    <a:fontScheme name="Project Presentation Templat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</dc:title>
  <dc:subject/>
  <dc:creator/>
  <cp:lastModifiedBy/>
  <cp:revision>1</cp:revision>
  <dcterms:created xsi:type="dcterms:W3CDTF">2026-10-04T02:25:25Z</dcterms:created>
  <dcterms:modified xsi:type="dcterms:W3CDTF">2026-10-04T02:25:25Z</dcterms:modified>
</cp:coreProperties>
</file>